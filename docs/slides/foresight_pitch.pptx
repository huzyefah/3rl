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99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99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
		<Relationships xmlns="http://schemas.openxmlformats.org/package/2006/relationships">
			<Relationship Id="rId1" Type="http://schemas.openxmlformats.org/officeDocument/2006/relationships/notesMaster" Target="../notesMasters/notesMaster1.xml"/>
			<Relationship Id="rId2" Type="http://schemas.openxmlformats.org/officeDocument/2006/relationships/slide" Target="../slides/slide6.xml"/>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Hook. Foresight is a multi-agent system that watches a fintech platform's telemetry and predicts incidents before they breach, then investigates, decides and acts safely. A static threshold fires at the breach with zero warning; Foresight fires on the forecast. JUDGING: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Business gap. PagerDuty's 2024 survey puts downtime at about $4,537 per minute; an average incident runs 175 minutes, so roughly $794K each. Parametrix's CrowdStrike model puts banking at about $1.15B in direct losses across the Fortune 500. These are survey/model estimates, say so. Gap: tools alert after the threshold is crossed (zero warning) and noisy pages breed alert fatigue; on our dataset 44% of critical pages were false. Nobody closes the loop from predict to investigate to act safely. JUDGING: Real-world impact,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Left: what the product does for a team. Early warning before customers are affected; a built-in skeptic that checks every alert so fewer pages are false; root causes explained in plain words with the fix that worked last time; safe actions taken automatically while risky ones wait for approval; and a performance analytics dashboard (lead time, MTTD, MTTA, MTTR, pre-emptive ratio, filterable by team). Mention what is built and working today. Right: the three metrics judges asked for: detection lead time, false-positive rate and root-cause summary quality, each against a static-threshold baseline. Fill placeholders only from the evaluation script run on held-out days. JUDGING: Functionality, Real-world impact, Innovation.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The product in one flow. Warn: a countdown alert in team chat with the service, time to breach and customers affected. Explain: plain-language root cause, a similar past incident and the fix that worked, in a business and a technical version. Act: safe actions run automatically (tickets, paging, containing a login attack); anything that could break production waits for one-click approval. Prove: Foresight checks the fix worked and keeps an audit trail. Trust by design: every action reversible, humans approve risky changes, and if the AI fails it falls back to classic alerting. Behind it sit seven cooperating agents and a deterministic safety guard; mention only if asked. JUDGING: Functionality (this is the demo path), Innovation, Technical execution (safe autonomy).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s, then 'let me show it live') Business model. Illustrative value: PagerDuty's 2024 survey implies about 25 high-priority incidents a year at roughly $794K each, so about $20M; if Foresight avoids or shortens [X]% the saving is [$X]M. Market: AIOps analyst estimates are $10B+ growing about 20% a year (definitions vary). Pricing: SaaS per monitored service per month with a premium autonomous-security tier; it layers on existing alerts through webhooks so there is no rip-and-replace. Path: pilot today, multi-tenant launch with integrations, then bank-grade compliance and cross-customer insights. Close with the five judging criteria, then hand over to the demo. JUDGING: Scalability, Real-world impact, recap of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(~20 s) Core tech stack, keywords only. Detection: Python, NumPy and SciPy with Holt trend forecasting and EWMA z-scores, served by FastAPI. AI agents: OpenAI Agents SDK and OpenAI models, embedding memory of past incidents, and a deterministic Policy Guard. Product: Next.js 16, TypeScript, Tailwind and shadcn/ui, streaming live over SSE. Cloud: Google Cloud Run, Pub/Sub, BigQuery and Docker. Tested with pytest, vitest and Playwright. JUDGING: Technical execution, Scalability.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-4-2.png"/><Relationship Id="rId4" Type="http://schemas.openxmlformats.org/officeDocument/2006/relationships/image" Target="../media/image-4-4.png"/><Relationship Id="rId6" Type="http://schemas.openxmlformats.org/officeDocument/2006/relationships/image" Target="../media/image-4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20116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</a:t>
            </a:r>
            <a:endParaRPr lang="en-US" sz="7200" dirty="0"/>
          </a:p>
        </p:txBody>
      </p:sp>
      <p:sp>
        <p:nvSpPr>
          <p:cNvPr id="3" name="Tagline"/>
          <p:cNvSpPr txBox="1"/>
          <p:nvPr/>
        </p:nvSpPr>
        <p:spPr>
          <a:xfrm>
            <a:off x="548640" y="3154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incidents before customers feel them.</a:t>
            </a:r>
            <a:endParaRPr lang="en-US" sz="24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3840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incident prevention for banks and payment platforms</a:t>
            </a:r>
            <a:endParaRPr lang="en-US" sz="1600" dirty="0"/>
          </a:p>
        </p:txBody>
      </p:sp>
      <p:sp>
        <p:nvSpPr>
          <p:cNvPr id="5" name="Team placeholder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  ·  [Event name]  ·  [Date]</a:t>
            </a:r>
            <a:endParaRPr lang="en-US" sz="1200" dirty="0"/>
          </a:p>
        </p:txBody>
      </p:sp>
      <p:sp>
        <p:nvSpPr>
          <p:cNvPr id="6" name="Threshold"/>
          <p:cNvSpPr/>
          <p:nvPr/>
        </p:nvSpPr>
        <p:spPr>
          <a:xfrm>
            <a:off x="7223760" y="2377440"/>
            <a:ext cx="4480560" cy="0"/>
          </a:xfrm>
          <a:prstGeom prst="line">
            <a:avLst/>
          </a:prstGeom>
          <a:noFill/>
          <a:ln w="19050">
            <a:solidFill>
              <a:srgbClr val="DC2F3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0149840" y="20482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threshold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breach: 0 min warning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V="1">
            <a:off x="7223760" y="4983480"/>
            <a:ext cx="640080" cy="13716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7863840" y="4800600"/>
            <a:ext cx="640080" cy="18288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503920" y="4480560"/>
            <a:ext cx="640080" cy="32004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144000" y="4023360"/>
            <a:ext cx="640080" cy="45720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784080" y="3383280"/>
            <a:ext cx="640080" cy="64008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424160" y="2377440"/>
            <a:ext cx="640080" cy="100584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0" y="2286000"/>
            <a:ext cx="182880" cy="182880"/>
          </a:xfrm>
          <a:prstGeom prst="ellipse">
            <a:avLst/>
          </a:prstGeom>
          <a:solidFill>
            <a:srgbClr val="DC2F3C"/>
          </a:solidFill>
          <a:ln w="12700">
            <a:solidFill>
              <a:srgbClr val="DC2F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25128" y="4361688"/>
            <a:ext cx="237744" cy="237744"/>
          </a:xfrm>
          <a:prstGeom prst="ellipse">
            <a:avLst/>
          </a:prstGeom>
          <a:solidFill>
            <a:srgbClr val="0F9D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0" y="4480560"/>
            <a:ext cx="0" cy="457200"/>
          </a:xfrm>
          <a:prstGeom prst="line">
            <a:avLst/>
          </a:prstGeom>
          <a:noFill/>
          <a:ln w="19050">
            <a:solidFill>
              <a:srgbClr val="0F9D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49560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alert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0" y="4800600"/>
            <a:ext cx="1920240" cy="0"/>
          </a:xfrm>
          <a:prstGeom prst="line">
            <a:avLst/>
          </a:prstGeom>
          <a:noFill/>
          <a:ln w="19050">
            <a:solidFill>
              <a:srgbClr val="0F9D8A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932688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 min lead time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are expensive, and alerts arrive too late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548640" y="1463040"/>
            <a:ext cx="3453384" cy="21945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14884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C2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$4,537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834640"/>
            <a:ext cx="290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 of downtime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904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2024 survey</a:t>
            </a:r>
            <a:endParaRPr lang="en-US" sz="1000" dirty="0"/>
          </a:p>
        </p:txBody>
      </p:sp>
      <p:sp>
        <p:nvSpPr>
          <p:cNvPr id="8" name="Card 2"/>
          <p:cNvSpPr/>
          <p:nvPr/>
        </p:nvSpPr>
        <p:spPr>
          <a:xfrm>
            <a:off x="4367784" y="1463040"/>
            <a:ext cx="3453384" cy="21945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17373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42104" y="214884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C2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$794K</a:t>
            </a:r>
            <a:endParaRPr lang="en-US" sz="4800" dirty="0"/>
          </a:p>
        </p:txBody>
      </p:sp>
      <p:sp>
        <p:nvSpPr>
          <p:cNvPr id="11" name="Text 7"/>
          <p:cNvSpPr txBox="1"/>
          <p:nvPr/>
        </p:nvSpPr>
        <p:spPr>
          <a:xfrm>
            <a:off x="4642104" y="2834640"/>
            <a:ext cx="290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incident (avg. 175 min)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642104" y="3154680"/>
            <a:ext cx="2904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2024 survey</a:t>
            </a:r>
            <a:endParaRPr lang="en-US" sz="1000" dirty="0"/>
          </a:p>
        </p:txBody>
      </p:sp>
      <p:sp>
        <p:nvSpPr>
          <p:cNvPr id="13" name="Card 3"/>
          <p:cNvSpPr/>
          <p:nvPr/>
        </p:nvSpPr>
        <p:spPr>
          <a:xfrm>
            <a:off x="8186928" y="1463040"/>
            <a:ext cx="3453384" cy="219456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248" y="173736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461248" y="2148840"/>
            <a:ext cx="2904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C2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$1.15B</a:t>
            </a:r>
            <a:endParaRPr lang="en-US" sz="4800" dirty="0"/>
          </a:p>
        </p:txBody>
      </p:sp>
      <p:sp>
        <p:nvSpPr>
          <p:cNvPr id="16" name="Text 11"/>
          <p:cNvSpPr txBox="1"/>
          <p:nvPr/>
        </p:nvSpPr>
        <p:spPr>
          <a:xfrm>
            <a:off x="8461248" y="2834640"/>
            <a:ext cx="2904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direct loss, CrowdStrike outage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461248" y="3154680"/>
            <a:ext cx="2904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Parametrix model, Fortune 500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480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577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2286000" y="4663440"/>
            <a:ext cx="9354312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276856" y="4562856"/>
            <a:ext cx="201168" cy="201168"/>
          </a:xfrm>
          <a:prstGeom prst="ellipse">
            <a:avLst/>
          </a:prstGeom>
          <a:solidFill>
            <a:srgbClr val="DC2F3C"/>
          </a:solidFill>
          <a:ln w="12700">
            <a:solidFill>
              <a:srgbClr val="DC2F3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286000" y="48280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hit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562856" y="4562856"/>
            <a:ext cx="201168" cy="201168"/>
          </a:xfrm>
          <a:prstGeom prst="ellipse">
            <a:avLst/>
          </a:prstGeom>
          <a:solidFill>
            <a:srgbClr val="DC2F3C"/>
          </a:solidFill>
          <a:ln w="12700">
            <a:solidFill>
              <a:srgbClr val="DC2F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572000" y="48280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fires (0 min warning)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7306056" y="4562856"/>
            <a:ext cx="201168" cy="201168"/>
          </a:xfrm>
          <a:prstGeom prst="ellipse">
            <a:avLst/>
          </a:prstGeom>
          <a:solidFill>
            <a:srgbClr val="DC2F3C"/>
          </a:solidFill>
          <a:ln w="12700">
            <a:solidFill>
              <a:srgbClr val="DC2F3C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15200" y="48280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~175 min to resolve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466344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pages are false alarms (on our dataset)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2286000" y="5760720"/>
            <a:ext cx="9354312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2276856" y="5660136"/>
            <a:ext cx="201168" cy="201168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286000" y="5925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breach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3922776" y="5660136"/>
            <a:ext cx="201168" cy="201168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931920" y="5925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 verifies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5568696" y="5660136"/>
            <a:ext cx="201168" cy="201168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577840" y="5925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action + ticket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7306056" y="5660136"/>
            <a:ext cx="201168" cy="201168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315200" y="59253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avoided</a:t>
            </a:r>
            <a:endParaRPr lang="en-US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2377440" y="5257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 min lead time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Foresight does, and what it changes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310896" cy="310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0584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Product: top 5 features</a:t>
            </a:r>
            <a:endParaRPr lang="en-US" sz="2200" dirty="0"/>
          </a:p>
        </p:txBody>
      </p:sp>
      <p:sp>
        <p:nvSpPr>
          <p:cNvPr id="5" name="Feature list"/>
          <p:cNvSpPr txBox="1"/>
          <p:nvPr/>
        </p:nvSpPr>
        <p:spPr>
          <a:xfrm>
            <a:off x="548640" y="1965960"/>
            <a:ext cx="527151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warning: </a:t>
            </a: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breaches and alerts minutes before customers are affected</a:t>
            </a:r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false alarms: </a:t>
            </a: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built-in skeptic checks every alert first</a:t>
            </a:r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in plain words: </a:t>
            </a: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and technical summaries, plus the fix that worked before</a:t>
            </a:r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safely on its own: </a:t>
            </a: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tickets, paging, login-attack containment; humans approve risky changes</a:t>
            </a:r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analytics: </a:t>
            </a: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dashboard tracks lead time, MTTD, MTTR and pre-emptive ratio by team</a:t>
            </a:r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796" y="1417320"/>
            <a:ext cx="310896" cy="3108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25996" y="13898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(held-out days)</a:t>
            </a:r>
            <a:endParaRPr lang="en-US" sz="2200" dirty="0"/>
          </a:p>
        </p:txBody>
      </p:sp>
      <p:sp>
        <p:nvSpPr>
          <p:cNvPr id="8" name="Metric 1"/>
          <p:cNvSpPr/>
          <p:nvPr/>
        </p:nvSpPr>
        <p:spPr>
          <a:xfrm>
            <a:off x="6368796" y="1965960"/>
            <a:ext cx="1635252" cy="1737360"/>
          </a:xfrm>
          <a:prstGeom prst="roundRect">
            <a:avLst>
              <a:gd name="adj" fmla="val 559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05956" y="2148840"/>
            <a:ext cx="13609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 min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6505956" y="2807208"/>
            <a:ext cx="13609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lead time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505956" y="3246120"/>
            <a:ext cx="13609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threshold: 0 min</a:t>
            </a:r>
            <a:endParaRPr lang="en-US" sz="1000" dirty="0"/>
          </a:p>
        </p:txBody>
      </p:sp>
      <p:sp>
        <p:nvSpPr>
          <p:cNvPr id="12" name="Metric 2"/>
          <p:cNvSpPr/>
          <p:nvPr/>
        </p:nvSpPr>
        <p:spPr>
          <a:xfrm>
            <a:off x="8186928" y="1965960"/>
            <a:ext cx="1635252" cy="1737360"/>
          </a:xfrm>
          <a:prstGeom prst="roundRect">
            <a:avLst>
              <a:gd name="adj" fmla="val 559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324088" y="2148840"/>
            <a:ext cx="13609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[X]%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324088" y="2807208"/>
            <a:ext cx="13609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324088" y="3246120"/>
            <a:ext cx="13609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threshold: 44%</a:t>
            </a:r>
            <a:endParaRPr lang="en-US" sz="1000" dirty="0"/>
          </a:p>
        </p:txBody>
      </p:sp>
      <p:sp>
        <p:nvSpPr>
          <p:cNvPr id="16" name="Metric 3"/>
          <p:cNvSpPr/>
          <p:nvPr/>
        </p:nvSpPr>
        <p:spPr>
          <a:xfrm>
            <a:off x="10005060" y="1965960"/>
            <a:ext cx="1635252" cy="1737360"/>
          </a:xfrm>
          <a:prstGeom prst="roundRect">
            <a:avLst>
              <a:gd name="adj" fmla="val 559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142220" y="2148840"/>
            <a:ext cx="13609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[X]%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10142220" y="2807208"/>
            <a:ext cx="13609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RCA accuracy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0142220" y="3246120"/>
            <a:ext cx="13609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cites evidence</a:t>
            </a:r>
            <a:endParaRPr lang="en-US" sz="1000" dirty="0"/>
          </a:p>
        </p:txBody>
      </p:sp>
      <p:sp>
        <p:nvSpPr>
          <p:cNvPr id="20" name="Impact list"/>
          <p:cNvSpPr txBox="1"/>
          <p:nvPr/>
        </p:nvSpPr>
        <p:spPr>
          <a:xfrm>
            <a:off x="6368796" y="3977640"/>
            <a:ext cx="52715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[$X]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avoided per prevented incident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[X]%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incidents ticketed before the first customer report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[X]%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MTTR; every action audited and reversible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a static-threshold baseline on held-out days only. Numbers come from the evaluation script, never hand-typed.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warning to resolution, in one flow</a:t>
            </a:r>
            <a:endParaRPr lang="en-US" sz="3600" dirty="0"/>
          </a:p>
        </p:txBody>
      </p:sp>
      <p:sp>
        <p:nvSpPr>
          <p:cNvPr id="3" name="Step 1"/>
          <p:cNvSpPr/>
          <p:nvPr/>
        </p:nvSpPr>
        <p:spPr>
          <a:xfrm>
            <a:off x="548640" y="1463040"/>
            <a:ext cx="2430018" cy="2743200"/>
          </a:xfrm>
          <a:prstGeom prst="roundRect">
            <a:avLst>
              <a:gd name="adj" fmla="val 45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Warn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18813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countdown alert lands in team chat: which service, when it breaks, who is affected.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2724912"/>
            <a:ext cx="219456" cy="219456"/>
          </a:xfrm>
          <a:prstGeom prst="rect">
            <a:avLst/>
          </a:prstGeom>
        </p:spPr>
      </p:pic>
      <p:sp>
        <p:nvSpPr>
          <p:cNvPr id="9" name="Step 2"/>
          <p:cNvSpPr/>
          <p:nvPr/>
        </p:nvSpPr>
        <p:spPr>
          <a:xfrm>
            <a:off x="3435858" y="1463040"/>
            <a:ext cx="2430018" cy="2743200"/>
          </a:xfrm>
          <a:prstGeom prst="roundRect">
            <a:avLst>
              <a:gd name="adj" fmla="val 45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10178" y="1737360"/>
            <a:ext cx="640080" cy="640080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626" y="189280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710178" y="256032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Explain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3710178" y="3063240"/>
            <a:ext cx="18813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root cause, a similar past incident and the fix that worked.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748" y="2724912"/>
            <a:ext cx="219456" cy="219456"/>
          </a:xfrm>
          <a:prstGeom prst="rect">
            <a:avLst/>
          </a:prstGeom>
        </p:spPr>
      </p:pic>
      <p:sp>
        <p:nvSpPr>
          <p:cNvPr id="15" name="Step 3"/>
          <p:cNvSpPr/>
          <p:nvPr/>
        </p:nvSpPr>
        <p:spPr>
          <a:xfrm>
            <a:off x="6323076" y="1463040"/>
            <a:ext cx="2430018" cy="2743200"/>
          </a:xfrm>
          <a:prstGeom prst="roundRect">
            <a:avLst>
              <a:gd name="adj" fmla="val 45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597396" y="1737360"/>
            <a:ext cx="640080" cy="640080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844" y="1892808"/>
            <a:ext cx="329184" cy="32918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97396" y="256032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Act</a:t>
            </a:r>
            <a:endParaRPr lang="en-US" sz="2200" dirty="0"/>
          </a:p>
        </p:txBody>
      </p:sp>
      <p:sp>
        <p:nvSpPr>
          <p:cNvPr id="19" name="Text 12"/>
          <p:cNvSpPr txBox="1"/>
          <p:nvPr/>
        </p:nvSpPr>
        <p:spPr>
          <a:xfrm>
            <a:off x="6597396" y="3063240"/>
            <a:ext cx="18813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steps run on their own. Risky changes wait for one-click approval.</a:t>
            </a:r>
            <a:endParaRPr lang="en-US" sz="14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1966" y="2724912"/>
            <a:ext cx="219456" cy="219456"/>
          </a:xfrm>
          <a:prstGeom prst="rect">
            <a:avLst/>
          </a:prstGeom>
        </p:spPr>
      </p:pic>
      <p:sp>
        <p:nvSpPr>
          <p:cNvPr id="21" name="Step 4"/>
          <p:cNvSpPr/>
          <p:nvPr/>
        </p:nvSpPr>
        <p:spPr>
          <a:xfrm>
            <a:off x="9210294" y="1463040"/>
            <a:ext cx="2430018" cy="2743200"/>
          </a:xfrm>
          <a:prstGeom prst="roundRect">
            <a:avLst>
              <a:gd name="adj" fmla="val 45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9484614" y="1737360"/>
            <a:ext cx="640080" cy="640080"/>
          </a:xfrm>
          <a:prstGeom prst="ellipse">
            <a:avLst/>
          </a:prstGeom>
          <a:solidFill>
            <a:srgbClr val="0F9D8A"/>
          </a:solidFill>
          <a:ln w="12700">
            <a:solidFill>
              <a:srgbClr val="0F9D8A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0062" y="1892808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484614" y="256032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Prove</a:t>
            </a:r>
            <a:endParaRPr lang="en-US" sz="2200" dirty="0"/>
          </a:p>
        </p:txBody>
      </p:sp>
      <p:sp>
        <p:nvSpPr>
          <p:cNvPr id="25" name="Text 16"/>
          <p:cNvSpPr txBox="1"/>
          <p:nvPr/>
        </p:nvSpPr>
        <p:spPr>
          <a:xfrm>
            <a:off x="9484614" y="3063240"/>
            <a:ext cx="18813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checks the fix worked and keeps a full audit trail.</a:t>
            </a:r>
            <a:endParaRPr lang="en-US" sz="1400" dirty="0"/>
          </a:p>
        </p:txBody>
      </p:sp>
      <p:sp>
        <p:nvSpPr>
          <p:cNvPr id="26" name="Text 17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people who carry the pager</a:t>
            </a:r>
            <a:endParaRPr lang="en-US" sz="1800" dirty="0"/>
          </a:p>
        </p:txBody>
      </p:sp>
      <p:sp>
        <p:nvSpPr>
          <p:cNvPr id="27" name="Shape 18"/>
          <p:cNvSpPr/>
          <p:nvPr/>
        </p:nvSpPr>
        <p:spPr>
          <a:xfrm>
            <a:off x="548640" y="4983480"/>
            <a:ext cx="2601468" cy="54864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548640" y="4983480"/>
            <a:ext cx="26014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engineers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3378708" y="4983480"/>
            <a:ext cx="2601468" cy="54864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3378708" y="4983480"/>
            <a:ext cx="26014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leads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6208776" y="4983480"/>
            <a:ext cx="2601468" cy="54864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6208776" y="4983480"/>
            <a:ext cx="26014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analysts</a:t>
            </a:r>
            <a:endParaRPr lang="en-US" sz="1400" dirty="0"/>
          </a:p>
        </p:txBody>
      </p:sp>
      <p:sp>
        <p:nvSpPr>
          <p:cNvPr id="33" name="Shape 24"/>
          <p:cNvSpPr/>
          <p:nvPr/>
        </p:nvSpPr>
        <p:spPr>
          <a:xfrm>
            <a:off x="9038844" y="4983480"/>
            <a:ext cx="2601468" cy="54864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9038844" y="4983480"/>
            <a:ext cx="26014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CTOs and risk heads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by design:  every action reversible  ·  humans approve risky changes  ·  falls back to classic alerting, never silence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and path to market</a:t>
            </a:r>
            <a:endParaRPr lang="en-US" sz="3600" dirty="0"/>
          </a:p>
        </p:txBody>
      </p:sp>
      <p:sp>
        <p:nvSpPr>
          <p:cNvPr id="3" name="Business card 1"/>
          <p:cNvSpPr/>
          <p:nvPr/>
        </p:nvSpPr>
        <p:spPr>
          <a:xfrm>
            <a:off x="548640" y="1371600"/>
            <a:ext cx="3483864" cy="2103120"/>
          </a:xfrm>
          <a:prstGeom prst="roundRect">
            <a:avLst>
              <a:gd name="adj" fmla="val 521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C2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~$20M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935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year: 25 incidents of 175 min at $4,537/min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PagerDuty 2024. Avoiding [X]% saves [$X]M.</a:t>
            </a:r>
            <a:endParaRPr lang="en-US" sz="1200" dirty="0"/>
          </a:p>
        </p:txBody>
      </p:sp>
      <p:sp>
        <p:nvSpPr>
          <p:cNvPr id="7" name="Business card 2"/>
          <p:cNvSpPr/>
          <p:nvPr/>
        </p:nvSpPr>
        <p:spPr>
          <a:xfrm>
            <a:off x="4352544" y="1371600"/>
            <a:ext cx="3483864" cy="2103120"/>
          </a:xfrm>
          <a:prstGeom prst="roundRect">
            <a:avLst>
              <a:gd name="adj" fmla="val 521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26864" y="1554480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$10B+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26864" y="2286000"/>
            <a:ext cx="2935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AIOps market, growing about 20% 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26864" y="283464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estimates vary by definition. DORA raises resilience pressure.</a:t>
            </a:r>
            <a:endParaRPr lang="en-US" sz="1200" dirty="0"/>
          </a:p>
        </p:txBody>
      </p:sp>
      <p:sp>
        <p:nvSpPr>
          <p:cNvPr id="11" name="Business card 3"/>
          <p:cNvSpPr/>
          <p:nvPr/>
        </p:nvSpPr>
        <p:spPr>
          <a:xfrm>
            <a:off x="8156448" y="1371600"/>
            <a:ext cx="3483864" cy="2103120"/>
          </a:xfrm>
          <a:prstGeom prst="roundRect">
            <a:avLst>
              <a:gd name="adj" fmla="val 521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30768" y="1554480"/>
            <a:ext cx="2935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service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430768" y="2286000"/>
            <a:ext cx="2935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SaaS, priced per monitored service per month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83464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 for autonomous security. Layers on existing alerts, no rip-and-replace.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market</a:t>
            </a:r>
            <a:endParaRPr lang="en-US" sz="1800" dirty="0"/>
          </a:p>
        </p:txBody>
      </p:sp>
      <p:sp>
        <p:nvSpPr>
          <p:cNvPr id="16" name="Stage 1"/>
          <p:cNvSpPr/>
          <p:nvPr/>
        </p:nvSpPr>
        <p:spPr>
          <a:xfrm>
            <a:off x="548640" y="4206240"/>
            <a:ext cx="3392424" cy="1051560"/>
          </a:xfrm>
          <a:prstGeom prst="roundRect">
            <a:avLst>
              <a:gd name="adj" fmla="val 869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315968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(today)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66344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a simulated payments platform. [X] design partners lined up.</a:t>
            </a:r>
            <a:endParaRPr lang="en-US" sz="12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9936" y="4622292"/>
            <a:ext cx="219456" cy="219456"/>
          </a:xfrm>
          <a:prstGeom prst="rect">
            <a:avLst/>
          </a:prstGeom>
        </p:spPr>
      </p:pic>
      <p:sp>
        <p:nvSpPr>
          <p:cNvPr id="20" name="Stage 2"/>
          <p:cNvSpPr/>
          <p:nvPr/>
        </p:nvSpPr>
        <p:spPr>
          <a:xfrm>
            <a:off x="4398264" y="4206240"/>
            <a:ext cx="3392424" cy="1051560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26864" y="4315968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4626864" y="466344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 with Datadog, PagerDuty and Jira integrations.</a:t>
            </a:r>
            <a:endParaRPr lang="en-US" sz="12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4622292"/>
            <a:ext cx="219456" cy="219456"/>
          </a:xfrm>
          <a:prstGeom prst="rect">
            <a:avLst/>
          </a:prstGeom>
        </p:spPr>
      </p:pic>
      <p:sp>
        <p:nvSpPr>
          <p:cNvPr id="24" name="Stage 3"/>
          <p:cNvSpPr/>
          <p:nvPr/>
        </p:nvSpPr>
        <p:spPr>
          <a:xfrm>
            <a:off x="8247888" y="4206240"/>
            <a:ext cx="3392424" cy="1051560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476488" y="4315968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476488" y="466344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Bank-grade security and compliance, insights shared across customers.</a:t>
            </a:r>
            <a:endParaRPr lang="en-US" sz="1200" dirty="0"/>
          </a:p>
        </p:txBody>
      </p:sp>
      <p:sp>
        <p:nvSpPr>
          <p:cNvPr id="27" name="Criterion 1"/>
          <p:cNvSpPr/>
          <p:nvPr/>
        </p:nvSpPr>
        <p:spPr>
          <a:xfrm>
            <a:off x="548640" y="5577840"/>
            <a:ext cx="207203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5669280"/>
            <a:ext cx="17977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685800" y="5961888"/>
            <a:ext cx="1797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predicts, not just reacts</a:t>
            </a:r>
            <a:endParaRPr lang="en-US" sz="1100" dirty="0"/>
          </a:p>
        </p:txBody>
      </p:sp>
      <p:sp>
        <p:nvSpPr>
          <p:cNvPr id="30" name="Criterion 2"/>
          <p:cNvSpPr/>
          <p:nvPr/>
        </p:nvSpPr>
        <p:spPr>
          <a:xfrm>
            <a:off x="2803550" y="5577840"/>
            <a:ext cx="207203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940710" y="5669280"/>
            <a:ext cx="17977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2940710" y="5961888"/>
            <a:ext cx="1797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 in the live demo</a:t>
            </a:r>
            <a:endParaRPr lang="en-US" sz="1100" dirty="0"/>
          </a:p>
        </p:txBody>
      </p:sp>
      <p:sp>
        <p:nvSpPr>
          <p:cNvPr id="33" name="Criterion 3"/>
          <p:cNvSpPr/>
          <p:nvPr/>
        </p:nvSpPr>
        <p:spPr>
          <a:xfrm>
            <a:off x="5058461" y="5577840"/>
            <a:ext cx="207203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195621" y="5669280"/>
            <a:ext cx="17977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5195621" y="5961888"/>
            <a:ext cx="1797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pilot, launch, scale path</a:t>
            </a:r>
            <a:endParaRPr lang="en-US" sz="1100" dirty="0"/>
          </a:p>
        </p:txBody>
      </p:sp>
      <p:sp>
        <p:nvSpPr>
          <p:cNvPr id="36" name="Criterion 4"/>
          <p:cNvSpPr/>
          <p:nvPr/>
        </p:nvSpPr>
        <p:spPr>
          <a:xfrm>
            <a:off x="7313371" y="5577840"/>
            <a:ext cx="207203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50531" y="5669280"/>
            <a:ext cx="17977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impact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7450531" y="5961888"/>
            <a:ext cx="1797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[X] min earlier, [X]% fewer false pages</a:t>
            </a:r>
            <a:endParaRPr lang="en-US" sz="1100" dirty="0"/>
          </a:p>
        </p:txBody>
      </p:sp>
      <p:sp>
        <p:nvSpPr>
          <p:cNvPr id="39" name="Criterion 5"/>
          <p:cNvSpPr/>
          <p:nvPr/>
        </p:nvSpPr>
        <p:spPr>
          <a:xfrm>
            <a:off x="9568282" y="5577840"/>
            <a:ext cx="207203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9705442" y="5669280"/>
            <a:ext cx="17977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9705442" y="5961888"/>
            <a:ext cx="179771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with a safety guard, on GCP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tech stack</a:t>
            </a:r>
            <a:endParaRPr lang="en-US" sz="3600" dirty="0"/>
          </a:p>
        </p:txBody>
      </p:sp>
      <p:sp>
        <p:nvSpPr>
          <p:cNvPr id="3" name="Step 1"/>
          <p:cNvSpPr/>
          <p:nvPr/>
        </p:nvSpPr>
        <p:spPr>
          <a:xfrm>
            <a:off x="548640" y="1463040"/>
            <a:ext cx="2430018" cy="2743200"/>
          </a:xfrm>
          <a:prstGeom prst="roundRect">
            <a:avLst>
              <a:gd name="adj" fmla="val 45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3736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18813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+ SciPy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 + EWMA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530" y="2724912"/>
            <a:ext cx="219456" cy="219456"/>
          </a:xfrm>
          <a:prstGeom prst="rect">
            <a:avLst/>
          </a:prstGeom>
        </p:spPr>
      </p:pic>
      <p:sp>
        <p:nvSpPr>
          <p:cNvPr id="9" name="Step 2"/>
          <p:cNvSpPr/>
          <p:nvPr/>
        </p:nvSpPr>
        <p:spPr>
          <a:xfrm>
            <a:off x="3435858" y="1463040"/>
            <a:ext cx="2430018" cy="2743200"/>
          </a:xfrm>
          <a:prstGeom prst="roundRect">
            <a:avLst>
              <a:gd name="adj" fmla="val 45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3710178" y="173736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</a:p>
        </p:txBody>
      </p:sp>
      <p:sp>
        <p:nvSpPr>
          <p:cNvPr id="13" name="Text 8"/>
          <p:cNvSpPr txBox="1"/>
          <p:nvPr/>
        </p:nvSpPr>
        <p:spPr>
          <a:xfrm>
            <a:off x="3710178" y="2377440"/>
            <a:ext cx="18813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models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memory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Guard</a:t>
            </a:r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748" y="2724912"/>
            <a:ext cx="219456" cy="219456"/>
          </a:xfrm>
          <a:prstGeom prst="rect">
            <a:avLst/>
          </a:prstGeom>
        </p:spPr>
      </p:pic>
      <p:sp>
        <p:nvSpPr>
          <p:cNvPr id="15" name="Step 3"/>
          <p:cNvSpPr/>
          <p:nvPr/>
        </p:nvSpPr>
        <p:spPr>
          <a:xfrm>
            <a:off x="6323076" y="1463040"/>
            <a:ext cx="2430018" cy="2743200"/>
          </a:xfrm>
          <a:prstGeom prst="roundRect">
            <a:avLst>
              <a:gd name="adj" fmla="val 45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597396" y="173736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</a:p>
        </p:txBody>
      </p:sp>
      <p:sp>
        <p:nvSpPr>
          <p:cNvPr id="19" name="Text 12"/>
          <p:cNvSpPr txBox="1"/>
          <p:nvPr/>
        </p:nvSpPr>
        <p:spPr>
          <a:xfrm>
            <a:off x="6597396" y="2377440"/>
            <a:ext cx="18813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+ shadcn/ui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SSE stream</a:t>
            </a:r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1966" y="2724912"/>
            <a:ext cx="219456" cy="219456"/>
          </a:xfrm>
          <a:prstGeom prst="rect">
            <a:avLst/>
          </a:prstGeom>
        </p:spPr>
      </p:pic>
      <p:sp>
        <p:nvSpPr>
          <p:cNvPr id="21" name="Step 4"/>
          <p:cNvSpPr/>
          <p:nvPr/>
        </p:nvSpPr>
        <p:spPr>
          <a:xfrm>
            <a:off x="9210294" y="1463040"/>
            <a:ext cx="2430018" cy="2743200"/>
          </a:xfrm>
          <a:prstGeom prst="roundRect">
            <a:avLst>
              <a:gd name="adj" fmla="val 4516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9484614" y="173736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</a:p>
        </p:txBody>
      </p:sp>
      <p:sp>
        <p:nvSpPr>
          <p:cNvPr id="25" name="Text 16"/>
          <p:cNvSpPr txBox="1"/>
          <p:nvPr/>
        </p:nvSpPr>
        <p:spPr>
          <a:xfrm>
            <a:off x="9484614" y="2377440"/>
            <a:ext cx="188137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</a:p>
          <a:p>
            <a:pPr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</a:p>
        </p:txBody>
      </p:sp>
      <p:sp>
        <p:nvSpPr>
          <p:cNvPr id="26" name="Text 17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delivery</a:t>
            </a:r>
          </a:p>
        </p:txBody>
      </p:sp>
      <p:sp>
        <p:nvSpPr>
          <p:cNvPr id="27" name="Shape 18"/>
          <p:cNvSpPr/>
          <p:nvPr/>
        </p:nvSpPr>
        <p:spPr>
          <a:xfrm>
            <a:off x="548640" y="4983480"/>
            <a:ext cx="2601468" cy="54864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548640" y="4983480"/>
            <a:ext cx="26014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vitest</a:t>
            </a:r>
          </a:p>
        </p:txBody>
      </p:sp>
      <p:sp>
        <p:nvSpPr>
          <p:cNvPr id="29" name="Shape 20"/>
          <p:cNvSpPr/>
          <p:nvPr/>
        </p:nvSpPr>
        <p:spPr>
          <a:xfrm>
            <a:off x="3378708" y="4983480"/>
            <a:ext cx="2601468" cy="54864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3378708" y="4983480"/>
            <a:ext cx="26014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+ axe</a:t>
            </a:r>
          </a:p>
        </p:txBody>
      </p:sp>
      <p:sp>
        <p:nvSpPr>
          <p:cNvPr id="31" name="Shape 22"/>
          <p:cNvSpPr/>
          <p:nvPr/>
        </p:nvSpPr>
        <p:spPr>
          <a:xfrm>
            <a:off x="6208776" y="4983480"/>
            <a:ext cx="2601468" cy="54864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6208776" y="4983480"/>
            <a:ext cx="26014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</a:p>
        </p:txBody>
      </p:sp>
      <p:sp>
        <p:nvSpPr>
          <p:cNvPr id="33" name="Shape 24"/>
          <p:cNvSpPr/>
          <p:nvPr/>
        </p:nvSpPr>
        <p:spPr>
          <a:xfrm>
            <a:off x="9038844" y="4983480"/>
            <a:ext cx="2601468" cy="54864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9038844" y="4983480"/>
            <a:ext cx="26014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</a:p>
        </p:txBody>
      </p:sp>
      <p:sp>
        <p:nvSpPr>
          <p:cNvPr id="35" name="Text 2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real PS-02 telemetry CSV, plus a simulated payments platform (synthetic data only)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Foresight pitch</dc:title>
  <dc:subject>PptxGenJS Presentation</dc:subject>
  <dc:creator>PptxGenJS</dc:creator>
  <cp:lastModifiedBy>PptxGenJS</cp:lastModifiedBy>
  <cp:revision>1</cp:revision>
  <dcterms:created xsi:type="dcterms:W3CDTF">2026-10-20T09:04:51Z</dcterms:created>
  <dcterms:modified xsi:type="dcterms:W3CDTF">2026-10-20T09:04:51Z</dcterms:modified>
</cp:coreProperties>
</file>