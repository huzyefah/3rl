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(~15 s) Hook. Foresight is a multi-agent system that watches a fintech platform's telemetry and predicts incidents before they breach, then investigates, decides and acts safely. A static threshold fires at the breach with zero warning; Foresight fires on the forecast. JUDGING: Innovation.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Business gap. PagerDuty's 2024 survey puts downtime at about $4,537 per minute; an average incident runs 175 minutes, so roughly $794K each. Parametrix's CrowdStrike model puts banking at about $1.15B in direct losses across the Fortune 500. These are survey/model estimates, say so. Gap: tools alert after the threshold is crossed (zero warning) and noisy pages breed alert fatigue; on our dataset 44% of critical pages were false. Nobody closes the loop from predict to investigate to act safely. JUDGING: Real-world impact, Innovation.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Left: what we built. Commander agent sets a goal, plans, re-plans when the Skeptic disputes, acts through a deterministic Policy Guard, then verifies the outcome. Detection is forecast-based so we alert before the breach; the Skeptic cuts false positives; root-cause summaries cite evidence IDs and similar past incidents. Right: the three project metrics: detection lead time, false-positive rate, root-cause summary quality. Fill placeholders only from run_eval.py on held-out days. JUDGING: Functionality, Real-world impact, Innovation.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Technical execution. Cheap statistical and ML layers only raise signals; they never act. The Incident Commander agent sets a goal, plans, delegates to specialists (Investigator, Historian with RAG, Skeptic, Log Analyst, Security Sentinel, Follow-up) and re-plans when evidence conflicts. Every decision passes a deterministic Policy Guard: an LLM mistake can make us not act, never act wrongly. If the LLM fails the system degrades to classic alerting, never silence. Stack: Python/FastAPI with the OpenAI Agents SDK, Next.js, Pub/Sub, BigQuery, Vertex AI, Cloud Run. Fill build status from the plan's phase tracker. JUDGING: Technical execution, Innovation.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(~30 s, then 'let me show it live') Scalability: prototype today, MVP with multi-tenancy, Dataflow and Google ADK, market-ready with SOC 2 and per-tenant models. Throughput figures are targets from the design, not measurements. Close with the five criteria and hand over to the live demo. JUDGING: Scalability, plus a recap of all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0116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</a:t>
            </a:r>
            <a:endParaRPr lang="en-US" sz="7200" dirty="0"/>
          </a:p>
        </p:txBody>
      </p:sp>
      <p:sp>
        <p:nvSpPr>
          <p:cNvPr id="3" name="Tagline"/>
          <p:cNvSpPr txBox="1"/>
          <p:nvPr/>
        </p:nvSpPr>
        <p:spPr>
          <a:xfrm>
            <a:off x="548640" y="31546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incidents before customers feel them.</a:t>
            </a:r>
            <a:endParaRPr lang="en-US" sz="24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38404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AIOps for fintech platforms</a:t>
            </a:r>
            <a:endParaRPr lang="en-US" sz="1600" dirty="0"/>
          </a:p>
        </p:txBody>
      </p:sp>
      <p:sp>
        <p:nvSpPr>
          <p:cNvPr id="5" name="Team placeholder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  ·  [Event name]  ·  [Date]</a:t>
            </a:r>
            <a:endParaRPr lang="en-US" sz="1200" dirty="0"/>
          </a:p>
        </p:txBody>
      </p:sp>
      <p:sp>
        <p:nvSpPr>
          <p:cNvPr id="6" name="Threshold"/>
          <p:cNvSpPr/>
          <p:nvPr/>
        </p:nvSpPr>
        <p:spPr>
          <a:xfrm>
            <a:off x="7223760" y="2377440"/>
            <a:ext cx="4480560" cy="0"/>
          </a:xfrm>
          <a:prstGeom prst="line">
            <a:avLst/>
          </a:prstGeom>
          <a:noFill/>
          <a:ln w="19050">
            <a:solidFill>
              <a:srgbClr val="DC2F3C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0149840" y="2048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threshold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breach: 0 min warning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V="1">
            <a:off x="7223760" y="4983480"/>
            <a:ext cx="640080" cy="13716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7863840" y="4800600"/>
            <a:ext cx="640080" cy="18288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503920" y="4480560"/>
            <a:ext cx="640080" cy="32004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9144000" y="4023360"/>
            <a:ext cx="640080" cy="45720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9784080" y="3383280"/>
            <a:ext cx="640080" cy="64008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424160" y="2377440"/>
            <a:ext cx="640080" cy="100584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72800" y="2286000"/>
            <a:ext cx="182880" cy="182880"/>
          </a:xfrm>
          <a:prstGeom prst="ellipse">
            <a:avLst/>
          </a:prstGeom>
          <a:solidFill>
            <a:srgbClr val="DC2F3C"/>
          </a:solidFill>
          <a:ln w="12700">
            <a:solidFill>
              <a:srgbClr val="DC2F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25128" y="4361688"/>
            <a:ext cx="237744" cy="237744"/>
          </a:xfrm>
          <a:prstGeom prst="ellipse">
            <a:avLst/>
          </a:prstGeom>
          <a:solidFill>
            <a:srgbClr val="0F9D8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0" y="4480560"/>
            <a:ext cx="0" cy="457200"/>
          </a:xfrm>
          <a:prstGeom prst="line">
            <a:avLst/>
          </a:prstGeom>
          <a:noFill/>
          <a:ln w="19050">
            <a:solidFill>
              <a:srgbClr val="0F9D8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49560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alert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44000" y="4800600"/>
            <a:ext cx="1920240" cy="0"/>
          </a:xfrm>
          <a:prstGeom prst="line">
            <a:avLst/>
          </a:prstGeom>
          <a:noFill/>
          <a:ln w="19050">
            <a:solidFill>
              <a:srgbClr val="0F9D8A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9326880" y="4480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[X] min lead time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Outages are expensive, and alerts arrive too late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548640" y="1463040"/>
            <a:ext cx="3453384" cy="21945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37360"/>
            <a:ext cx="365760" cy="365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148840"/>
            <a:ext cx="2904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C2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$4,537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834640"/>
            <a:ext cx="2904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minute of downtime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904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 2024 survey</a:t>
            </a:r>
            <a:endParaRPr lang="en-US" sz="1000" dirty="0"/>
          </a:p>
        </p:txBody>
      </p:sp>
      <p:sp>
        <p:nvSpPr>
          <p:cNvPr id="8" name="Card 2"/>
          <p:cNvSpPr/>
          <p:nvPr/>
        </p:nvSpPr>
        <p:spPr>
          <a:xfrm>
            <a:off x="4367784" y="1463040"/>
            <a:ext cx="3453384" cy="21945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104" y="17373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42104" y="2148840"/>
            <a:ext cx="2904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C2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$794K</a:t>
            </a:r>
            <a:endParaRPr lang="en-US" sz="4800" dirty="0"/>
          </a:p>
        </p:txBody>
      </p:sp>
      <p:sp>
        <p:nvSpPr>
          <p:cNvPr id="11" name="Text 7"/>
          <p:cNvSpPr txBox="1"/>
          <p:nvPr/>
        </p:nvSpPr>
        <p:spPr>
          <a:xfrm>
            <a:off x="4642104" y="2834640"/>
            <a:ext cx="2904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incident (avg. 175 min)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642104" y="3154680"/>
            <a:ext cx="2904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 2024 survey</a:t>
            </a:r>
            <a:endParaRPr lang="en-US" sz="1000" dirty="0"/>
          </a:p>
        </p:txBody>
      </p:sp>
      <p:sp>
        <p:nvSpPr>
          <p:cNvPr id="13" name="Card 3"/>
          <p:cNvSpPr/>
          <p:nvPr/>
        </p:nvSpPr>
        <p:spPr>
          <a:xfrm>
            <a:off x="8186928" y="1463040"/>
            <a:ext cx="3453384" cy="21945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248" y="173736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461248" y="2148840"/>
            <a:ext cx="2904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C2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$1.15B</a:t>
            </a:r>
            <a:endParaRPr lang="en-US" sz="4800" dirty="0"/>
          </a:p>
        </p:txBody>
      </p:sp>
      <p:sp>
        <p:nvSpPr>
          <p:cNvPr id="16" name="Text 11"/>
          <p:cNvSpPr txBox="1"/>
          <p:nvPr/>
        </p:nvSpPr>
        <p:spPr>
          <a:xfrm>
            <a:off x="8461248" y="2834640"/>
            <a:ext cx="2904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direct loss, CrowdStrike outage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461248" y="3154680"/>
            <a:ext cx="2904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Parametrix model, Fortune 500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4480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577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2286000" y="4663440"/>
            <a:ext cx="9354312" cy="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2276856" y="4562856"/>
            <a:ext cx="201168" cy="201168"/>
          </a:xfrm>
          <a:prstGeom prst="ellipse">
            <a:avLst/>
          </a:prstGeom>
          <a:solidFill>
            <a:srgbClr val="DC2F3C"/>
          </a:solidFill>
          <a:ln w="12700">
            <a:solidFill>
              <a:srgbClr val="DC2F3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286000" y="48280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hit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4562856" y="4562856"/>
            <a:ext cx="201168" cy="201168"/>
          </a:xfrm>
          <a:prstGeom prst="ellipse">
            <a:avLst/>
          </a:prstGeom>
          <a:solidFill>
            <a:srgbClr val="DC2F3C"/>
          </a:solidFill>
          <a:ln w="12700">
            <a:solidFill>
              <a:srgbClr val="DC2F3C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572000" y="48280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fires (0 min warning)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7306056" y="4562856"/>
            <a:ext cx="201168" cy="201168"/>
          </a:xfrm>
          <a:prstGeom prst="ellipse">
            <a:avLst/>
          </a:prstGeom>
          <a:solidFill>
            <a:srgbClr val="DC2F3C"/>
          </a:solidFill>
          <a:ln w="12700">
            <a:solidFill>
              <a:srgbClr val="DC2F3C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315200" y="48280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~175 min to resolve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466344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pages are false alarms (on our dataset)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2286000" y="5760720"/>
            <a:ext cx="9354312" cy="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2276856" y="5660136"/>
            <a:ext cx="201168" cy="201168"/>
          </a:xfrm>
          <a:prstGeom prst="ellipse">
            <a:avLst/>
          </a:prstGeom>
          <a:solidFill>
            <a:srgbClr val="0F9D8A"/>
          </a:solidFill>
          <a:ln w="12700">
            <a:solidFill>
              <a:srgbClr val="0F9D8A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2286000" y="592531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breach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3922776" y="5660136"/>
            <a:ext cx="201168" cy="201168"/>
          </a:xfrm>
          <a:prstGeom prst="ellipse">
            <a:avLst/>
          </a:prstGeom>
          <a:solidFill>
            <a:srgbClr val="0F9D8A"/>
          </a:solidFill>
          <a:ln w="12700">
            <a:solidFill>
              <a:srgbClr val="0F9D8A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931920" y="592531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 verifies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5568696" y="5660136"/>
            <a:ext cx="201168" cy="201168"/>
          </a:xfrm>
          <a:prstGeom prst="ellipse">
            <a:avLst/>
          </a:prstGeom>
          <a:solidFill>
            <a:srgbClr val="0F9D8A"/>
          </a:solidFill>
          <a:ln w="12700">
            <a:solidFill>
              <a:srgbClr val="0F9D8A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5577840" y="592531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action + ticket</a:t>
            </a:r>
            <a:endParaRPr lang="en-US" sz="1400" dirty="0"/>
          </a:p>
        </p:txBody>
      </p:sp>
      <p:sp>
        <p:nvSpPr>
          <p:cNvPr id="35" name="Shape 30"/>
          <p:cNvSpPr/>
          <p:nvPr/>
        </p:nvSpPr>
        <p:spPr>
          <a:xfrm>
            <a:off x="7306056" y="5660136"/>
            <a:ext cx="201168" cy="201168"/>
          </a:xfrm>
          <a:prstGeom prst="ellipse">
            <a:avLst/>
          </a:prstGeom>
          <a:solidFill>
            <a:srgbClr val="0F9D8A"/>
          </a:solidFill>
          <a:ln w="12700">
            <a:solidFill>
              <a:srgbClr val="0F9D8A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315200" y="592531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avoided</a:t>
            </a:r>
            <a:endParaRPr lang="en-US" sz="1400" dirty="0"/>
          </a:p>
        </p:txBody>
      </p:sp>
      <p:sp>
        <p:nvSpPr>
          <p:cNvPr id="37" name="Text 32"/>
          <p:cNvSpPr txBox="1"/>
          <p:nvPr/>
        </p:nvSpPr>
        <p:spPr>
          <a:xfrm>
            <a:off x="2377440" y="5257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[X] min lead time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built, and what it changes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584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2200" dirty="0"/>
          </a:p>
        </p:txBody>
      </p:sp>
      <p:sp>
        <p:nvSpPr>
          <p:cNvPr id="5" name="Feature list"/>
          <p:cNvSpPr txBox="1"/>
          <p:nvPr/>
        </p:nvSpPr>
        <p:spPr>
          <a:xfrm>
            <a:off x="548640" y="1965960"/>
            <a:ext cx="5271516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Goal-driven agents: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Commander plans, re-plans, acts, then verifies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detection: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+ Holt time-to-breach + ML risk score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 agent: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argues against alerts to cut false pages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root cause: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IDs, RAG over past incidents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autonomy: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Guard, TTL, rollback; humans approve risky actions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FinPay simulator, live chaos demo, GCP deployed [status]</a:t>
            </a:r>
            <a:endParaRPr lang="en-US" sz="1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796" y="1417320"/>
            <a:ext cx="310896" cy="31089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25996" y="13898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(held-out days)</a:t>
            </a:r>
            <a:endParaRPr lang="en-US" sz="2200" dirty="0"/>
          </a:p>
        </p:txBody>
      </p:sp>
      <p:sp>
        <p:nvSpPr>
          <p:cNvPr id="8" name="Metric 1"/>
          <p:cNvSpPr/>
          <p:nvPr/>
        </p:nvSpPr>
        <p:spPr>
          <a:xfrm>
            <a:off x="6368796" y="1965960"/>
            <a:ext cx="1635252" cy="1737360"/>
          </a:xfrm>
          <a:prstGeom prst="roundRect">
            <a:avLst>
              <a:gd name="adj" fmla="val 559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05956" y="2148840"/>
            <a:ext cx="13609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[X] min</a:t>
            </a:r>
            <a:endParaRPr lang="en-US" sz="3200" dirty="0"/>
          </a:p>
        </p:txBody>
      </p:sp>
      <p:sp>
        <p:nvSpPr>
          <p:cNvPr id="10" name="Text 6"/>
          <p:cNvSpPr txBox="1"/>
          <p:nvPr/>
        </p:nvSpPr>
        <p:spPr>
          <a:xfrm>
            <a:off x="6505956" y="2807208"/>
            <a:ext cx="13609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lead time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505956" y="3246120"/>
            <a:ext cx="13609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threshold: 0 min</a:t>
            </a:r>
            <a:endParaRPr lang="en-US" sz="1000" dirty="0"/>
          </a:p>
        </p:txBody>
      </p:sp>
      <p:sp>
        <p:nvSpPr>
          <p:cNvPr id="12" name="Metric 2"/>
          <p:cNvSpPr/>
          <p:nvPr/>
        </p:nvSpPr>
        <p:spPr>
          <a:xfrm>
            <a:off x="8186928" y="1965960"/>
            <a:ext cx="1635252" cy="1737360"/>
          </a:xfrm>
          <a:prstGeom prst="roundRect">
            <a:avLst>
              <a:gd name="adj" fmla="val 559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324088" y="2148840"/>
            <a:ext cx="13609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[X]%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8324088" y="2807208"/>
            <a:ext cx="13609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324088" y="3246120"/>
            <a:ext cx="13609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threshold: 44%</a:t>
            </a:r>
            <a:endParaRPr lang="en-US" sz="1000" dirty="0"/>
          </a:p>
        </p:txBody>
      </p:sp>
      <p:sp>
        <p:nvSpPr>
          <p:cNvPr id="16" name="Metric 3"/>
          <p:cNvSpPr/>
          <p:nvPr/>
        </p:nvSpPr>
        <p:spPr>
          <a:xfrm>
            <a:off x="10005060" y="1965960"/>
            <a:ext cx="1635252" cy="1737360"/>
          </a:xfrm>
          <a:prstGeom prst="roundRect">
            <a:avLst>
              <a:gd name="adj" fmla="val 559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142220" y="2148840"/>
            <a:ext cx="13609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[X]%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10142220" y="2807208"/>
            <a:ext cx="13609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RCA accuracy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0142220" y="3246120"/>
            <a:ext cx="13609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cites evidence</a:t>
            </a:r>
            <a:endParaRPr lang="en-US" sz="1000" dirty="0"/>
          </a:p>
        </p:txBody>
      </p:sp>
      <p:sp>
        <p:nvSpPr>
          <p:cNvPr id="20" name="Impact list"/>
          <p:cNvSpPr txBox="1"/>
          <p:nvPr/>
        </p:nvSpPr>
        <p:spPr>
          <a:xfrm>
            <a:off x="6368796" y="3977640"/>
            <a:ext cx="52715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[$X]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avoided per prevented incident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[X]%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incidents ticketed before the first customer report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[X]%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MTTR; every action audited and reversible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against a static-threshold baseline on held-out days only. Numbers come from the evaluation script, never hand-typed.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decide, code enforces the limits</a:t>
            </a:r>
            <a:endParaRPr lang="en-US" sz="3600" dirty="0"/>
          </a:p>
        </p:txBody>
      </p:sp>
      <p:sp>
        <p:nvSpPr>
          <p:cNvPr id="3" name="Stage 1"/>
          <p:cNvSpPr/>
          <p:nvPr/>
        </p:nvSpPr>
        <p:spPr>
          <a:xfrm>
            <a:off x="548640" y="1463040"/>
            <a:ext cx="1889150" cy="1828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91640"/>
            <a:ext cx="365760" cy="365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194560"/>
            <a:ext cx="1431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560320"/>
            <a:ext cx="1431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logs, auth events, tickets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230" y="2267712"/>
            <a:ext cx="219456" cy="219456"/>
          </a:xfrm>
          <a:prstGeom prst="rect">
            <a:avLst/>
          </a:prstGeom>
        </p:spPr>
      </p:pic>
      <p:sp>
        <p:nvSpPr>
          <p:cNvPr id="8" name="Stage 2"/>
          <p:cNvSpPr/>
          <p:nvPr/>
        </p:nvSpPr>
        <p:spPr>
          <a:xfrm>
            <a:off x="2849270" y="1463040"/>
            <a:ext cx="1889150" cy="1828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7870" y="1691640"/>
            <a:ext cx="365760" cy="365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077870" y="2194560"/>
            <a:ext cx="1431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3077870" y="2560320"/>
            <a:ext cx="1431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EWMA, Holt time-to-breach, ML risk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9861" y="2267712"/>
            <a:ext cx="219456" cy="219456"/>
          </a:xfrm>
          <a:prstGeom prst="rect">
            <a:avLst/>
          </a:prstGeom>
        </p:spPr>
      </p:pic>
      <p:sp>
        <p:nvSpPr>
          <p:cNvPr id="13" name="Stage 3"/>
          <p:cNvSpPr/>
          <p:nvPr/>
        </p:nvSpPr>
        <p:spPr>
          <a:xfrm>
            <a:off x="5149901" y="1463040"/>
            <a:ext cx="1889150" cy="1828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8501" y="1691640"/>
            <a:ext cx="365760" cy="36576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378501" y="2194560"/>
            <a:ext cx="1431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800" dirty="0"/>
          </a:p>
        </p:txBody>
      </p:sp>
      <p:sp>
        <p:nvSpPr>
          <p:cNvPr id="16" name="Text 9"/>
          <p:cNvSpPr txBox="1"/>
          <p:nvPr/>
        </p:nvSpPr>
        <p:spPr>
          <a:xfrm>
            <a:off x="5378501" y="2560320"/>
            <a:ext cx="1431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Commander plans; specialists investigate</a:t>
            </a:r>
            <a:endParaRPr lang="en-US" sz="12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0491" y="2267712"/>
            <a:ext cx="219456" cy="219456"/>
          </a:xfrm>
          <a:prstGeom prst="rect">
            <a:avLst/>
          </a:prstGeom>
        </p:spPr>
      </p:pic>
      <p:sp>
        <p:nvSpPr>
          <p:cNvPr id="18" name="Stage 4"/>
          <p:cNvSpPr/>
          <p:nvPr/>
        </p:nvSpPr>
        <p:spPr>
          <a:xfrm>
            <a:off x="7450531" y="1463040"/>
            <a:ext cx="1889150" cy="1828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79131" y="1691640"/>
            <a:ext cx="365760" cy="36576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7679131" y="2194560"/>
            <a:ext cx="1431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Guard</a:t>
            </a:r>
            <a:endParaRPr lang="en-US" sz="1800" dirty="0"/>
          </a:p>
        </p:txBody>
      </p:sp>
      <p:sp>
        <p:nvSpPr>
          <p:cNvPr id="21" name="Text 12"/>
          <p:cNvSpPr txBox="1"/>
          <p:nvPr/>
        </p:nvSpPr>
        <p:spPr>
          <a:xfrm>
            <a:off x="7679131" y="2560320"/>
            <a:ext cx="1431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veto, caps, allowlists</a:t>
            </a:r>
            <a:endParaRPr lang="en-US" sz="120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1122" y="2267712"/>
            <a:ext cx="219456" cy="219456"/>
          </a:xfrm>
          <a:prstGeom prst="rect">
            <a:avLst/>
          </a:prstGeom>
        </p:spPr>
      </p:pic>
      <p:sp>
        <p:nvSpPr>
          <p:cNvPr id="23" name="Stage 5"/>
          <p:cNvSpPr/>
          <p:nvPr/>
        </p:nvSpPr>
        <p:spPr>
          <a:xfrm>
            <a:off x="9751162" y="1463040"/>
            <a:ext cx="1889150" cy="1828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79762" y="1691640"/>
            <a:ext cx="365760" cy="365760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9979762" y="2194560"/>
            <a:ext cx="1431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</a:t>
            </a:r>
            <a:endParaRPr lang="en-US" sz="1800" dirty="0"/>
          </a:p>
        </p:txBody>
      </p:sp>
      <p:sp>
        <p:nvSpPr>
          <p:cNvPr id="26" name="Text 15"/>
          <p:cNvSpPr txBox="1"/>
          <p:nvPr/>
        </p:nvSpPr>
        <p:spPr>
          <a:xfrm>
            <a:off x="9979762" y="2560320"/>
            <a:ext cx="1431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if safe, human approves the rest</a:t>
            </a:r>
            <a:endParaRPr lang="en-US" sz="1200" dirty="0"/>
          </a:p>
        </p:txBody>
      </p:sp>
      <p:sp>
        <p:nvSpPr>
          <p:cNvPr id="27" name="Text 16"/>
          <p:cNvSpPr txBox="1"/>
          <p:nvPr/>
        </p:nvSpPr>
        <p:spPr>
          <a:xfrm>
            <a:off x="548640" y="3611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agents, each with its own tools and step budget</a:t>
            </a:r>
            <a:endParaRPr lang="en-US" sz="1800" dirty="0"/>
          </a:p>
        </p:txBody>
      </p:sp>
      <p:sp>
        <p:nvSpPr>
          <p:cNvPr id="28" name="Agent 1"/>
          <p:cNvSpPr/>
          <p:nvPr/>
        </p:nvSpPr>
        <p:spPr>
          <a:xfrm>
            <a:off x="548640" y="4114800"/>
            <a:ext cx="1443446" cy="548640"/>
          </a:xfrm>
          <a:prstGeom prst="roundRect">
            <a:avLst>
              <a:gd name="adj" fmla="val 50000"/>
            </a:avLst>
          </a:prstGeom>
          <a:solidFill>
            <a:srgbClr val="0F9D8A"/>
          </a:solidFill>
          <a:ln w="12700">
            <a:solidFill>
              <a:srgbClr val="0F9D8A"/>
            </a:solidFill>
            <a:prstDash val="solid"/>
          </a:ln>
        </p:spPr>
      </p:sp>
      <p:sp>
        <p:nvSpPr>
          <p:cNvPr id="29" name="Text 18"/>
          <p:cNvSpPr txBox="1"/>
          <p:nvPr/>
        </p:nvSpPr>
        <p:spPr>
          <a:xfrm>
            <a:off x="548640" y="4114800"/>
            <a:ext cx="14434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Commander</a:t>
            </a:r>
            <a:endParaRPr lang="en-US" sz="1200" dirty="0"/>
          </a:p>
        </p:txBody>
      </p:sp>
      <p:sp>
        <p:nvSpPr>
          <p:cNvPr id="30" name="Agent 2"/>
          <p:cNvSpPr/>
          <p:nvPr/>
        </p:nvSpPr>
        <p:spPr>
          <a:xfrm>
            <a:off x="2156678" y="4114800"/>
            <a:ext cx="1443446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0"/>
          <p:cNvSpPr txBox="1"/>
          <p:nvPr/>
        </p:nvSpPr>
        <p:spPr>
          <a:xfrm>
            <a:off x="2156678" y="4114800"/>
            <a:ext cx="14434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Investigator</a:t>
            </a:r>
            <a:endParaRPr lang="en-US" sz="1200" dirty="0"/>
          </a:p>
        </p:txBody>
      </p:sp>
      <p:sp>
        <p:nvSpPr>
          <p:cNvPr id="32" name="Agent 3"/>
          <p:cNvSpPr/>
          <p:nvPr/>
        </p:nvSpPr>
        <p:spPr>
          <a:xfrm>
            <a:off x="3764715" y="4114800"/>
            <a:ext cx="1443446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2"/>
          <p:cNvSpPr txBox="1"/>
          <p:nvPr/>
        </p:nvSpPr>
        <p:spPr>
          <a:xfrm>
            <a:off x="3764715" y="4114800"/>
            <a:ext cx="14434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Historian (RAG)</a:t>
            </a:r>
            <a:endParaRPr lang="en-US" sz="1200" dirty="0"/>
          </a:p>
        </p:txBody>
      </p:sp>
      <p:sp>
        <p:nvSpPr>
          <p:cNvPr id="34" name="Agent 4"/>
          <p:cNvSpPr/>
          <p:nvPr/>
        </p:nvSpPr>
        <p:spPr>
          <a:xfrm>
            <a:off x="5372753" y="4114800"/>
            <a:ext cx="1443446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24"/>
          <p:cNvSpPr txBox="1"/>
          <p:nvPr/>
        </p:nvSpPr>
        <p:spPr>
          <a:xfrm>
            <a:off x="5372753" y="4114800"/>
            <a:ext cx="14434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200" dirty="0"/>
          </a:p>
        </p:txBody>
      </p:sp>
      <p:sp>
        <p:nvSpPr>
          <p:cNvPr id="36" name="Agent 5"/>
          <p:cNvSpPr/>
          <p:nvPr/>
        </p:nvSpPr>
        <p:spPr>
          <a:xfrm>
            <a:off x="6980791" y="4114800"/>
            <a:ext cx="1443446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6980791" y="4114800"/>
            <a:ext cx="14434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Analyst</a:t>
            </a:r>
            <a:endParaRPr lang="en-US" sz="1200" dirty="0"/>
          </a:p>
        </p:txBody>
      </p:sp>
      <p:sp>
        <p:nvSpPr>
          <p:cNvPr id="38" name="Agent 6"/>
          <p:cNvSpPr/>
          <p:nvPr/>
        </p:nvSpPr>
        <p:spPr>
          <a:xfrm>
            <a:off x="8588829" y="4114800"/>
            <a:ext cx="1443446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28"/>
          <p:cNvSpPr txBox="1"/>
          <p:nvPr/>
        </p:nvSpPr>
        <p:spPr>
          <a:xfrm>
            <a:off x="8588829" y="4114800"/>
            <a:ext cx="14434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Sentinel</a:t>
            </a:r>
            <a:endParaRPr lang="en-US" sz="1200" dirty="0"/>
          </a:p>
        </p:txBody>
      </p:sp>
      <p:sp>
        <p:nvSpPr>
          <p:cNvPr id="40" name="Agent 7"/>
          <p:cNvSpPr/>
          <p:nvPr/>
        </p:nvSpPr>
        <p:spPr>
          <a:xfrm>
            <a:off x="10196866" y="4114800"/>
            <a:ext cx="1443446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0"/>
          <p:cNvSpPr txBox="1"/>
          <p:nvPr/>
        </p:nvSpPr>
        <p:spPr>
          <a:xfrm>
            <a:off x="10196866" y="4114800"/>
            <a:ext cx="14434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</a:t>
            </a:r>
            <a:endParaRPr lang="en-US" sz="1200" dirty="0"/>
          </a:p>
        </p:txBody>
      </p:sp>
      <p:sp>
        <p:nvSpPr>
          <p:cNvPr id="42" name="Build status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822960" y="5138928"/>
            <a:ext cx="3240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[X] / 15</a:t>
            </a:r>
            <a:endParaRPr lang="en-US" sz="2800" dirty="0"/>
          </a:p>
        </p:txBody>
      </p:sp>
      <p:sp>
        <p:nvSpPr>
          <p:cNvPr id="44" name="Text 33"/>
          <p:cNvSpPr txBox="1"/>
          <p:nvPr/>
        </p:nvSpPr>
        <p:spPr>
          <a:xfrm>
            <a:off x="822960" y="5715000"/>
            <a:ext cx="3240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phases complete</a:t>
            </a:r>
            <a:endParaRPr lang="en-US" sz="1400" dirty="0"/>
          </a:p>
        </p:txBody>
      </p:sp>
      <p:sp>
        <p:nvSpPr>
          <p:cNvPr id="45" name="Text 34"/>
          <p:cNvSpPr txBox="1"/>
          <p:nvPr/>
        </p:nvSpPr>
        <p:spPr>
          <a:xfrm>
            <a:off x="4337304" y="5138928"/>
            <a:ext cx="3240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[X]</a:t>
            </a:r>
            <a:endParaRPr lang="en-US" sz="2800" dirty="0"/>
          </a:p>
        </p:txBody>
      </p:sp>
      <p:sp>
        <p:nvSpPr>
          <p:cNvPr id="46" name="Text 35"/>
          <p:cNvSpPr txBox="1"/>
          <p:nvPr/>
        </p:nvSpPr>
        <p:spPr>
          <a:xfrm>
            <a:off x="4337304" y="5715000"/>
            <a:ext cx="3240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400" dirty="0"/>
          </a:p>
        </p:txBody>
      </p:sp>
      <p:sp>
        <p:nvSpPr>
          <p:cNvPr id="47" name="Text 36"/>
          <p:cNvSpPr txBox="1"/>
          <p:nvPr/>
        </p:nvSpPr>
        <p:spPr>
          <a:xfrm>
            <a:off x="7851648" y="5138928"/>
            <a:ext cx="3240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[status]</a:t>
            </a:r>
            <a:endParaRPr lang="en-US" sz="2800" dirty="0"/>
          </a:p>
        </p:txBody>
      </p:sp>
      <p:sp>
        <p:nvSpPr>
          <p:cNvPr id="48" name="Text 37"/>
          <p:cNvSpPr txBox="1"/>
          <p:nvPr/>
        </p:nvSpPr>
        <p:spPr>
          <a:xfrm>
            <a:off x="7851648" y="5715000"/>
            <a:ext cx="3240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GCP Cloud Run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prototype to product</a:t>
            </a:r>
            <a:endParaRPr lang="en-US" sz="3600" dirty="0"/>
          </a:p>
        </p:txBody>
      </p:sp>
      <p:sp>
        <p:nvSpPr>
          <p:cNvPr id="3" name="Stage 1"/>
          <p:cNvSpPr/>
          <p:nvPr/>
        </p:nvSpPr>
        <p:spPr>
          <a:xfrm>
            <a:off x="548640" y="1463040"/>
            <a:ext cx="3392424" cy="2103120"/>
          </a:xfrm>
          <a:prstGeom prst="roundRect">
            <a:avLst>
              <a:gd name="adj" fmla="val 5217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(today)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28437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tenant, local plus Cloud Run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~200 events/s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fintech platform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9936" y="2404872"/>
            <a:ext cx="219456" cy="219456"/>
          </a:xfrm>
          <a:prstGeom prst="rect">
            <a:avLst/>
          </a:prstGeom>
        </p:spPr>
      </p:pic>
      <p:sp>
        <p:nvSpPr>
          <p:cNvPr id="7" name="Stage 2"/>
          <p:cNvSpPr/>
          <p:nvPr/>
        </p:nvSpPr>
        <p:spPr>
          <a:xfrm>
            <a:off x="4398264" y="1463040"/>
            <a:ext cx="3392424" cy="2103120"/>
          </a:xfrm>
          <a:prstGeom prst="roundRect">
            <a:avLst>
              <a:gd name="adj" fmla="val 521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72584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72584" y="2194560"/>
            <a:ext cx="28437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Multi-tenant, SSO, RBAC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~10k events/s, Dataflow + ADK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Datadog, Alertmanager, Jira, PagerDuty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2404872"/>
            <a:ext cx="219456" cy="219456"/>
          </a:xfrm>
          <a:prstGeom prst="rect">
            <a:avLst/>
          </a:prstGeom>
        </p:spPr>
      </p:pic>
      <p:sp>
        <p:nvSpPr>
          <p:cNvPr id="11" name="Stage 3"/>
          <p:cNvSpPr/>
          <p:nvPr/>
        </p:nvSpPr>
        <p:spPr>
          <a:xfrm>
            <a:off x="8247888" y="1463040"/>
            <a:ext cx="3392424" cy="2103120"/>
          </a:xfrm>
          <a:prstGeom prst="roundRect">
            <a:avLst>
              <a:gd name="adj" fmla="val 521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522208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Market-ready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8522208" y="2194560"/>
            <a:ext cx="28437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~500k events/s per region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2, PCI scope minimisation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models, pattern library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7490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model: SaaS per monitored service per month, plus a premium tier for autonomous security. Sits on top of existing alerts via webhook connectors.</a:t>
            </a:r>
            <a:endParaRPr lang="en-US" sz="1400" dirty="0"/>
          </a:p>
        </p:txBody>
      </p:sp>
      <p:sp>
        <p:nvSpPr>
          <p:cNvPr id="15" name="Criterion 1"/>
          <p:cNvSpPr/>
          <p:nvPr/>
        </p:nvSpPr>
        <p:spPr>
          <a:xfrm>
            <a:off x="548640" y="4480560"/>
            <a:ext cx="207203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663440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31520" y="5074920"/>
            <a:ext cx="17062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31520" y="5413248"/>
            <a:ext cx="17062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forecast-triggered, Skeptic, bounded autonomy</a:t>
            </a:r>
            <a:endParaRPr lang="en-US" sz="1200" dirty="0"/>
          </a:p>
        </p:txBody>
      </p:sp>
      <p:sp>
        <p:nvSpPr>
          <p:cNvPr id="19" name="Criterion 2"/>
          <p:cNvSpPr/>
          <p:nvPr/>
        </p:nvSpPr>
        <p:spPr>
          <a:xfrm>
            <a:off x="2803550" y="4480560"/>
            <a:ext cx="207203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6430" y="4663440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2986430" y="5074920"/>
            <a:ext cx="17062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Functionality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2986430" y="5413248"/>
            <a:ext cx="17062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 in the live demo</a:t>
            </a:r>
            <a:endParaRPr lang="en-US" sz="1200" dirty="0"/>
          </a:p>
        </p:txBody>
      </p:sp>
      <p:sp>
        <p:nvSpPr>
          <p:cNvPr id="23" name="Criterion 3"/>
          <p:cNvSpPr/>
          <p:nvPr/>
        </p:nvSpPr>
        <p:spPr>
          <a:xfrm>
            <a:off x="5058461" y="4480560"/>
            <a:ext cx="207203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1341" y="4663440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241341" y="5074920"/>
            <a:ext cx="17062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5241341" y="5413248"/>
            <a:ext cx="17062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prototype, MVP, market-ready path</a:t>
            </a:r>
            <a:endParaRPr lang="en-US" sz="1200" dirty="0"/>
          </a:p>
        </p:txBody>
      </p:sp>
      <p:sp>
        <p:nvSpPr>
          <p:cNvPr id="27" name="Criterion 4"/>
          <p:cNvSpPr/>
          <p:nvPr/>
        </p:nvSpPr>
        <p:spPr>
          <a:xfrm>
            <a:off x="7313371" y="4480560"/>
            <a:ext cx="207203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6251" y="4663440"/>
            <a:ext cx="310896" cy="31089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496251" y="5074920"/>
            <a:ext cx="17062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impact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7496251" y="5413248"/>
            <a:ext cx="17062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[X] min earlier, [X]% fewer false pages</a:t>
            </a:r>
            <a:endParaRPr lang="en-US" sz="1200" dirty="0"/>
          </a:p>
        </p:txBody>
      </p:sp>
      <p:sp>
        <p:nvSpPr>
          <p:cNvPr id="31" name="Criterion 5"/>
          <p:cNvSpPr/>
          <p:nvPr/>
        </p:nvSpPr>
        <p:spPr>
          <a:xfrm>
            <a:off x="9568282" y="4480560"/>
            <a:ext cx="207203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51162" y="4663440"/>
            <a:ext cx="310896" cy="310896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751162" y="5074920"/>
            <a:ext cx="17062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execution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9751162" y="5413248"/>
            <a:ext cx="17062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agents, Policy Guard, GCP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Foresight pitch</dc:title>
  <dc:subject>PptxGenJS Presentation</dc:subject>
  <dc:creator>PptxGenJS</dc:creator>
  <cp:lastModifiedBy>PptxGenJS</cp:lastModifiedBy>
  <cp:revision>1</cp:revision>
  <dcterms:created xsi:type="dcterms:W3CDTF">2026-10-20T08:40:28Z</dcterms:created>
  <dcterms:modified xsi:type="dcterms:W3CDTF">2026-10-20T08:40:28Z</dcterms:modified>
</cp:coreProperties>
</file>